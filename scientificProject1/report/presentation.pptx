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Startup Success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CCCCCC"/>
                </a:solidFill>
              </a:rPr>
              <a:t>Machine Learning on a 100 000-row Kaggle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0" i="1">
                <a:solidFill>
                  <a:srgbClr val="3498DB"/>
                </a:solidFill>
              </a:rPr>
              <a:t>Supervised Classification  ·  Unsupervised Clustering  ·  PCA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Ognjen  ·  Yuzhen                    PSL M1 —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" cy="5303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100 000 startups  ·  10 features  ·  no missing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18488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7 numerical: funding_rounds, founder_experience, team_size,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20824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market_size, product_traction, burn_rate,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23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3 categorical: investor_type, sector, founder_background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08376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Target: outcome  →  3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83864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Failure 55.6%   ·   Acquisition 42.3%   ·   IPO 2.1%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06908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Two questions: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544568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Part 1: Can we predict outcome from features?  (Supervised)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946904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Part 2: What natural groups exist in data?  (Unsupervised)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097280"/>
            <a:ext cx="539496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Class Distribution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920240"/>
            <a:ext cx="2542032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0032" y="2121408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Failure  55.6%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3383280"/>
            <a:ext cx="1933955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1956" y="3584448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Acquisition  42.3%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4846320"/>
            <a:ext cx="96012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54012" y="5047488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3498DB"/>
                </a:solidFill>
              </a:rPr>
              <a:t>IPO  2.1%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EDA — Key Finding: Most Features are Noise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" cy="5303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Spearman ρ (feature vs outcome) near 0 for 5 / 7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18488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funding_rounds, founder_exp, team_size, market_size, burn_rate → ρ ≈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03704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Only 2 features carry real signal: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79192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revenue_million            ρ ≈ 0.45  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81528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product_traction_users     ρ ≈ 0.38 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666744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Preprocessing pipeline: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142231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log1p + StandardScaler  (numerical)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544568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OrdinalEncoder  (categorical)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946904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Pipeline + ColumnTransformer → no data leakage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097280"/>
            <a:ext cx="539496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1430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Spearman ρ  with  outcome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1691640"/>
            <a:ext cx="411480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76479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revenue_million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1764792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ρ=0.45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350008"/>
            <a:ext cx="347472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4231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product_traction_users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242316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ρ=0.38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008376"/>
            <a:ext cx="274320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08152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burn_rate_million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3081528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ρ=0.03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666744"/>
            <a:ext cx="182880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739896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market_size_billion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3739896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ρ=0.02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4325112"/>
            <a:ext cx="91440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398264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team_size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4398264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ρ=0.01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983479"/>
            <a:ext cx="0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056631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founder_experience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5056631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ρ=0.00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5641848"/>
            <a:ext cx="0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715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funding_rounds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571500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ρ=0.00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This finding recurs in supervised coefficients and unsupervised cluster profiles.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Part 1 — Supervised Learning: Pipeline &amp;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" cy="5394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4 classifiers:  k-NN  ·  Decision Tree  ·  Logistic Regression  ·  LDA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55648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Each wrapped in Pipeline: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31136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Preprocessor  →  Classifier  (leakage-free)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816352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Tuning: 5-fold StratifiedKFold + GridSearchCV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9184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k-NN: n_neighbors (subsample 5 000 rows for speed)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694176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DT: max_depth, min_samples_split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096512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LR: max_iter=1000  (no C tuning)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498848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LDA: cross_val_score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084064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Final evaluation on 20 000-row held-out test 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097280"/>
            <a:ext cx="539496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1430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GridSearchCV Tuning Detail</a:t>
            </a:r>
          </a:p>
        </p:txBody>
      </p:sp>
      <p:pic>
        <p:nvPicPr>
          <p:cNvPr id="16" name="Picture 15" descr="model_comparis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486400" cy="22840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Part 1 — Results: 3-Class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51560"/>
            <a:ext cx="57607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CV Accuracy — All Models</a:t>
            </a:r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08760"/>
            <a:ext cx="5669280" cy="33763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0" y="1051560"/>
            <a:ext cx="57607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09728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ROC Curves — One-vs-Rest (3-class)</a:t>
            </a:r>
          </a:p>
        </p:txBody>
      </p:sp>
      <p:pic>
        <p:nvPicPr>
          <p:cNvPr id="9" name="Picture 8" descr="roc_3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08760"/>
            <a:ext cx="5669280" cy="39553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2880" y="5257800"/>
            <a:ext cx="11795760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532180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2ECC71"/>
                </a:solidFill>
              </a:rPr>
              <a:t>Best model: Logistic Regression  |  CV accuracy 0.730  |  Test accuracy 0.720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76072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Failure F1=0.775  ·  Acquisition F1=0.682  ·  IPO F1≈0.22 (imbalance)   →   IPO motivates binary classification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Binary Classification — Removing 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51560"/>
            <a:ext cx="57607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CV Accuracy — Binary Models</a:t>
            </a:r>
          </a:p>
        </p:txBody>
      </p:sp>
      <p:pic>
        <p:nvPicPr>
          <p:cNvPr id="6" name="Picture 5" descr="binary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08760"/>
            <a:ext cx="5669280" cy="312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0" y="1051560"/>
            <a:ext cx="57607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09728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ROC Curve — Acquisition vs Failure</a:t>
            </a:r>
          </a:p>
        </p:txBody>
      </p:sp>
      <p:pic>
        <p:nvPicPr>
          <p:cNvPr id="9" name="Picture 8" descr="roc_bin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08760"/>
            <a:ext cx="5669280" cy="423401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2880" y="5257800"/>
            <a:ext cx="11795760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532180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2ECC71"/>
                </a:solidFill>
              </a:rPr>
              <a:t>Macro F1: 0.584 → 0.737  (+26%)   ·   AUC = 0.816   ·   Best model: 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76072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Removing the rare IPO class (2.1%) recovers a strong binary classifier — class imbalance was the bottleneck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Part 2 — Unsupervised Learning: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" cy="5394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Outcome label set aside → cluster on features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Only numerical features (7)  — categorical excluded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75104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Same preprocessing: log1p + StandardScaler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603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PCA → 2D for visualisation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35808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PC1 + PC2 explain 39.65% of variance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621024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Two methods — cross-validate each other: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096512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K-Means (k=3)  on full 100 000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498848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Agglomerative/Ward  on 5 000-row subsample  (O(n²) memory)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097280"/>
            <a:ext cx="539496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1430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Dendrogram (Ward linkage) → confirms k=3</a:t>
            </a:r>
          </a:p>
        </p:txBody>
      </p:sp>
      <p:pic>
        <p:nvPicPr>
          <p:cNvPr id="15" name="Picture 14" descr="hc_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303520" cy="37001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Choosing k = 3  —  Silhouette + Visual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51560"/>
            <a:ext cx="7772400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K-Means: k=2 vs k=3 (PCA 2D)</a:t>
            </a:r>
          </a:p>
        </p:txBody>
      </p:sp>
      <p:pic>
        <p:nvPicPr>
          <p:cNvPr id="6" name="Picture 5" descr="kmeans_k2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36192"/>
            <a:ext cx="7589520" cy="323469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38160" y="1051560"/>
            <a:ext cx="3840480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1430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Why k=3?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Silhouette scores: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075688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k=2 → 0.1612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432304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k=3 → 0.1553  (similar)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9718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Dendrogram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401568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Large gap before 3rd 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941064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k=2 sanity check: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370832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Cluster 1 → 79.7%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727448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But Non-Failure not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5266944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k=3 adds richer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696712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5321808"/>
            <a:ext cx="11795760" cy="12618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367528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k=2 clusters vs true binary outcome (Failure / Non-Failure)</a:t>
            </a:r>
          </a:p>
        </p:txBody>
      </p:sp>
      <p:pic>
        <p:nvPicPr>
          <p:cNvPr id="21" name="Picture 20" descr="k2_vs_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440680"/>
            <a:ext cx="9144000" cy="38972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Cluster Profiles — 3 Startup Archetypes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05840"/>
            <a:ext cx="11795760" cy="3291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Mean feature values per K-Means cluster</a:t>
            </a:r>
          </a:p>
        </p:txBody>
      </p:sp>
      <p:pic>
        <p:nvPicPr>
          <p:cNvPr id="6" name="Picture 5" descr="cluster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63040"/>
            <a:ext cx="11704320" cy="43679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600" y="4370832"/>
            <a:ext cx="1965960" cy="53035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4462272"/>
            <a:ext cx="1874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Cluster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4370832"/>
            <a:ext cx="2468880" cy="53035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872" y="446227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4370832"/>
            <a:ext cx="2468880" cy="53035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446227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3800" y="4370832"/>
            <a:ext cx="4069080" cy="53035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4462272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937760"/>
            <a:ext cx="196596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" y="5029200"/>
            <a:ext cx="1874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2ECC71"/>
                </a:solidFill>
              </a:rPr>
              <a:t>0  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4937760"/>
            <a:ext cx="24688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04872" y="50292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High  ~1 040k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4937760"/>
            <a:ext cx="24688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0912" y="50292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High  ~360k users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4937760"/>
            <a:ext cx="40690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2" y="5029200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High-revenue, established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504688"/>
            <a:ext cx="196596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5596128"/>
            <a:ext cx="1874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</a:rPr>
              <a:t>1  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5504688"/>
            <a:ext cx="24688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04872" y="559612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Low    ~120k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5504688"/>
            <a:ext cx="24688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0912" y="559612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Low   ~115k users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5504688"/>
            <a:ext cx="40690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16952" y="5596128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Low-traction, struggling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6071616"/>
            <a:ext cx="196596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" y="6163056"/>
            <a:ext cx="1874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3498DB"/>
                </a:solidFill>
              </a:rPr>
              <a:t>2  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6071616"/>
            <a:ext cx="24688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04872" y="6163056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Mid   ~850k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6071616"/>
            <a:ext cx="24688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10912" y="6163056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Mid   ~305k users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3800" y="6071616"/>
            <a:ext cx="406908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16952" y="6163056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Mid-revenue, early-stage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Validation — K-Means vs Hierarchical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05840"/>
            <a:ext cx="11795760" cy="4297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Same 3 groups found by both methods → structure is real, not an artefact</a:t>
            </a:r>
          </a:p>
        </p:txBody>
      </p:sp>
      <p:pic>
        <p:nvPicPr>
          <p:cNvPr id="6" name="Picture 5" descr="kmeans_vs_h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11612880" cy="494947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2880" y="5367528"/>
            <a:ext cx="11795760" cy="12161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41324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K-Means (left): run on full 100k rows — provides explicit centroids for profiling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888736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Hierarchical / Ward (right): run on 5k subsample — independent validation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" cy="5394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✅  Supervised:  Logistic Regression — Test accuracy 72%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Binary (no IPO): macro F1 0.737  ·  AUC 0.816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57984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✅  Unsupervised:  3 coherent archetypes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33472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Confirmed by both K-Means and Ward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18688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⚠️  Fundamental limit: dataset is synthetic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694176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5 / 7 features are near-random 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096512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Only revenue &amp; traction drive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681728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🔭  Extensions possible: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157216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    · Random Forest, XGBoost  ·  UMAP visualisation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097280"/>
            <a:ext cx="539496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234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Both analyses converge: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92024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revenue_million
&amp;
product_traction_users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8328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i="1">
                <a:solidFill>
                  <a:srgbClr val="CCCCCC"/>
                </a:solidFill>
              </a:rPr>
              <a:t>are the only two features
that predict startup outcome
and define cluster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846320"/>
            <a:ext cx="5029200" cy="13716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4919472"/>
            <a:ext cx="47548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EDA  →  Supervised coefficients
→  Cluster profiles
→  All point to same conclusion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