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Startup Success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0">
                <a:solidFill>
                  <a:srgbClr val="CCCCCC"/>
                </a:solidFill>
              </a:rPr>
              <a:t>Machine Learning on a 100 000-row Kaggle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0" i="1">
                <a:solidFill>
                  <a:srgbClr val="3498DB"/>
                </a:solidFill>
              </a:rPr>
              <a:t>Supervised Classification  ·  Unsupervised Clustering  ·  PCA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893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Ognjen  ·  Yuzhen                    PSL M1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Dataset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54864" cy="53949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100 000 startups  ·  10 features  ·  no missing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453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7 numerical: revenue, traction, funding, experience, team, market, 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6596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3 categorical: investor_type, sector, founder_background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5117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Target: outcome  →  3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Failure 55.6%   ·   Acquisition 42.3%   ·   IPO 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027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Two questions: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6908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Part 1: Predict outcome?  (Supervised)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9704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Part 2: Natural groups in data?  (Unsupervised)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024128"/>
            <a:ext cx="5440680" cy="54223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15568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Class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828800"/>
            <a:ext cx="2592872" cy="7772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029968"/>
            <a:ext cx="34158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Failure  55.6%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383280"/>
            <a:ext cx="1972635" cy="7772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584448"/>
            <a:ext cx="27955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Acquisition  42.3%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4937760"/>
            <a:ext cx="97932" cy="7772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5138928"/>
            <a:ext cx="92089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IPO  2.1%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EDA — Key Finding: Most Features are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54864" cy="53949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Spearman ρ ≈ 0 for 5 / 7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453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funding, founder_exp, team_size, market_size, burn_rate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3055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Only 2 features carry real signal: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9689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revenue_million            ρ ≈ 0.45 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product_traction_users     ρ ≈ 0.38  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027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Preprocessing pipeline: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6908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log1p + StandardScaler  (numerical)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9704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OrdinalEncoder  (categorical)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10328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Pipeline + ColumnTransformer → no data leakage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24128"/>
            <a:ext cx="5440680" cy="54223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115568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Spearman ρ with outcome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664208"/>
            <a:ext cx="41148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7373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revenue_million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1737360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ρ=0.45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322576"/>
            <a:ext cx="34747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39572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product_traction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2395728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ρ=0.38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980944"/>
            <a:ext cx="274320" cy="3840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054096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burn_rate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3054096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ρ=0.03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639312"/>
            <a:ext cx="182880" cy="3840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712464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market_size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3712464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ρ=0.02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4297680"/>
            <a:ext cx="91440" cy="3840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370832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team_size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4370832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ρ=0.01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956048"/>
            <a:ext cx="45720" cy="3840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50292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founder_exp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5029200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ρ=0.00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614416"/>
            <a:ext cx="45720" cy="3840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568756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funding_rounds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5687568"/>
            <a:ext cx="685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ρ=0.00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This finding recurs in supervised coefficients and unsupervised cluster profiles.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Part 1 — Supervised Learning: Pipeline &amp; 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54864" cy="5394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4 classifiers:  k-NN  ·  Decision Tree  ·  LR  ·  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9928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Each wrapped in Pipeline (leakage-free):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7627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Preprocessor  → 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61488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Tuning: 5-fold StratifiedKFold + GridSearchCV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22783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k-NN: n_neighbors  (subsample 5 000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4845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DT: max_depth, min_samples_split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6908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LR: max_iter=1000  (no C tuning)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9704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LDA: cross_val_score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07492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Final eval on 20 000-row held-out test 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24128"/>
            <a:ext cx="5486400" cy="54223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115568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GridSearchCV Tuning Detail</a:t>
            </a:r>
          </a:p>
        </p:txBody>
      </p:sp>
      <p:pic>
        <p:nvPicPr>
          <p:cNvPr id="16" name="Picture 15" descr="model_comparis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72768"/>
            <a:ext cx="5303520" cy="22079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Part 1 — Results: 3-Class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24128"/>
            <a:ext cx="5669280" cy="3611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69848"/>
            <a:ext cx="5394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CV Accuracy — All Models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63040"/>
            <a:ext cx="5577840" cy="332188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0" y="1024128"/>
            <a:ext cx="5760720" cy="3611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69848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ROC Curves — One-vs-Rest (3-class)</a:t>
            </a:r>
          </a:p>
        </p:txBody>
      </p:sp>
      <p:pic>
        <p:nvPicPr>
          <p:cNvPr id="9" name="Picture 8" descr="roc_3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623560" cy="392341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4727448"/>
            <a:ext cx="1179576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791456"/>
            <a:ext cx="114300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</a:rPr>
              <a:t>Best model: Logistic Regression  |  CV 0.730  |  Test 0.720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48656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Failure F1=0.775  ·  Acquisition F1=0.682  ·  IPO F1≈0.22  →  IPO nearly unlearnable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687568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3498DB"/>
                </a:solidFill>
              </a:rPr>
              <a:t>Top LR coefficients: revenue_million &amp; product_traction  (consistent with EDA ★)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108192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F39C12"/>
                </a:solidFill>
              </a:rPr>
              <a:t>IPO motivates binary classification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Binary Classification — Removing 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24128"/>
            <a:ext cx="5669280" cy="3611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69848"/>
            <a:ext cx="5394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CV Accuracy — Binary Models</a:t>
            </a:r>
          </a:p>
        </p:txBody>
      </p:sp>
      <p:pic>
        <p:nvPicPr>
          <p:cNvPr id="6" name="Picture 5" descr="binary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63040"/>
            <a:ext cx="5577840" cy="307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0" y="1024128"/>
            <a:ext cx="5760720" cy="3611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69848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ROC Curve — Acquisition vs Failure</a:t>
            </a:r>
          </a:p>
        </p:txBody>
      </p:sp>
      <p:pic>
        <p:nvPicPr>
          <p:cNvPr id="9" name="Picture 8" descr="roc_bin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623560" cy="41998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4727448"/>
            <a:ext cx="1179576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791456"/>
            <a:ext cx="114300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</a:rPr>
              <a:t>Macro F1: 0.584 → 0.737  (+26%)   ·   AUC = 0.816   ·   Best: 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248656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Removing IPO (2.1%) recovers a strong binary classifier — class imbalance was the bottleneck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687568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3498DB"/>
                </a:solidFill>
              </a:rPr>
              <a:t>AUC=0.816: ranks Acquisition above Failure correctly in 81.6% of random pairs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Part 2 — Unsupervised Learning: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54864" cy="53949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Outcome label set aside → cluster on X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453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7 numerical features only  (categorical excluded)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6596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log1p + StandardScaler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5117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PCA → 2D  (PC1+PC2 = 39.65% variance)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18211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Two methods cross-validate each other: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4845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K-Means (k=3)  →  full 100 000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6908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Agglomerative/Ward  →  5 000-row subsample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9704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(O(n²) memory — not scalable to 100k)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074920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Dendrogram (right) confirms k=3: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541264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Large gap before 3rd merge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024128"/>
            <a:ext cx="5577840" cy="54223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115568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Dendrogram — Ward linkage</a:t>
            </a:r>
          </a:p>
        </p:txBody>
      </p:sp>
      <p:pic>
        <p:nvPicPr>
          <p:cNvPr id="17" name="Picture 16" descr="hc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72768"/>
            <a:ext cx="5394960" cy="3763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Choosing k = 3  —  Visual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24128"/>
            <a:ext cx="740664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69848"/>
            <a:ext cx="7132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K-Means  k=2  vs  k=3  (PCA 2D)</a:t>
            </a:r>
          </a:p>
        </p:txBody>
      </p:sp>
      <p:pic>
        <p:nvPicPr>
          <p:cNvPr id="6" name="Picture 5" descr="kmeans_k2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81328"/>
            <a:ext cx="7315200" cy="31177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024128"/>
            <a:ext cx="420624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115568"/>
            <a:ext cx="3840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</a:rPr>
              <a:t>Why k = 3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572768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Silhouette scores: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975104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k=2  →  0.1612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331720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k=3  →  0.1553  (similar)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852928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Dendrogram gap at k=3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419856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k=3: richer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822192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Not just high vs low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178808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3 distinct startup profiles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700016"/>
            <a:ext cx="38404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k≥4 no improvement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4773168"/>
            <a:ext cx="1179576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28032"/>
            <a:ext cx="114300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Low silhouette scores expected — synthetic dataset with 5 near-random features  ·  k=3 chosen for interpretability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5394960"/>
            <a:ext cx="6309360" cy="1325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5440680"/>
            <a:ext cx="6035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K-Means k=3 — full dataset</a:t>
            </a:r>
          </a:p>
        </p:txBody>
      </p:sp>
      <p:pic>
        <p:nvPicPr>
          <p:cNvPr id="21" name="Picture 20" descr="kmeans_k3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5532120"/>
            <a:ext cx="6217920" cy="433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k=2 Sanity Check  —  Clusters vs True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24128"/>
            <a:ext cx="10515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069848"/>
            <a:ext cx="10241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K-Means k=2  vs  True Binary Outcome (Failure / Non-Failure)</a:t>
            </a:r>
          </a:p>
        </p:txBody>
      </p:sp>
      <p:pic>
        <p:nvPicPr>
          <p:cNvPr id="6" name="Picture 5" descr="k2_vs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10515600" cy="44818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5989320"/>
            <a:ext cx="10515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16752"/>
            <a:ext cx="10241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Cluster 1 → 79.7% Failure   ·   Cluster 0 → 75.4% Non-Failure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373368"/>
            <a:ext cx="10241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Partial alignment — 2nd dimension of variation inside Non-Failure → justifies k=3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Cluster Profiles — Mean Feature Values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24128"/>
            <a:ext cx="11521440" cy="4892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69848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Mean feature values per K-Means cluster  (original units)</a:t>
            </a:r>
          </a:p>
        </p:txBody>
      </p:sp>
      <p:pic>
        <p:nvPicPr>
          <p:cNvPr id="6" name="Picture 5" descr="cluster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11430000" cy="42655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5779008"/>
            <a:ext cx="115214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24728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Left: small-scale features  (funding, experience, team, market, burn)    Right: large-scale  (product_traction, revenue)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81344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</a:rPr>
              <a:t>Clusters differ almost exclusively on revenue &amp; traction — the 2 features with real signal 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Cluster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Each cluster interpreted on its own terms — independent of outcome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1508760" cy="10058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828800"/>
            <a:ext cx="13898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554480"/>
            <a:ext cx="1965960" cy="10058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93392" y="1828800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554480"/>
            <a:ext cx="1965960" cy="10058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1828800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554480"/>
            <a:ext cx="1234439" cy="10058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828800"/>
            <a:ext cx="11155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team_size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1554480"/>
            <a:ext cx="4434840" cy="10058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1828800"/>
            <a:ext cx="4315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15087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926079"/>
            <a:ext cx="13898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2ECC71"/>
                </a:solidFill>
              </a:rPr>
              <a:t>0  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2651760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93392" y="2926079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High  ~1 040k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651760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6512" y="2926079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High  ~360k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51760"/>
            <a:ext cx="1234439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2926079"/>
            <a:ext cx="11155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~148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2651760"/>
            <a:ext cx="443484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71231" y="2926079"/>
            <a:ext cx="4315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High-revenue, established companies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49039"/>
            <a:ext cx="15087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4023359"/>
            <a:ext cx="13898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0392B"/>
                </a:solidFill>
              </a:rPr>
              <a:t>1  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749039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93392" y="4023359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Low  ~120k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3749039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96512" y="4023359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Low  ~115k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749039"/>
            <a:ext cx="1234439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2" y="4023359"/>
            <a:ext cx="11155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~148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3749039"/>
            <a:ext cx="443484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1231" y="4023359"/>
            <a:ext cx="4315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Low-traction, struggling startups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46320"/>
            <a:ext cx="15087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5120640"/>
            <a:ext cx="13898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498DB"/>
                </a:solidFill>
              </a:rPr>
              <a:t>2  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846320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93392" y="5120640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Mid  ~850k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4846320"/>
            <a:ext cx="196596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6512" y="5120640"/>
            <a:ext cx="18470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Mid  ~305k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846320"/>
            <a:ext cx="1234439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99632" y="5120640"/>
            <a:ext cx="11155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~148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79" y="4846320"/>
            <a:ext cx="443484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71231" y="5120640"/>
            <a:ext cx="431596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Mid-revenue, early-stage startups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961888"/>
            <a:ext cx="1161288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007608"/>
            <a:ext cx="11247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</a:rPr>
              <a:t>All clusters have similar team_size &amp; founder_experience → revenue &amp; traction are the true discriminators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Validation — K-Means vs Hierarchical Clustering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24128"/>
            <a:ext cx="10515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069848"/>
            <a:ext cx="10241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Same 3 groups found independently by both methods → structure is real</a:t>
            </a:r>
          </a:p>
        </p:txBody>
      </p:sp>
      <p:pic>
        <p:nvPicPr>
          <p:cNvPr id="6" name="Picture 5" descr="kmeans_vs_h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10515600" cy="44818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5989320"/>
            <a:ext cx="10515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35040"/>
            <a:ext cx="10241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K-Means (left): full 100k rows — provides centroids for profiling     Hierarchical/Ward (right): 5k subsample — independent cross-check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54864" cy="5394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✅  Supervised:  Logistic Regression — Test accuracy 72%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4533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Binary (no IPO): macro F1 0.737  ·  AUC 0.816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3055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✅  Unsupervised:  3 coherent startup archetypes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9689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Confirmed by K-Means &amp; Ward independently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18211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⚠️  Fundamental limit: dataset is synthetic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4845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5 / 7 features are near-random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33672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🔭  Extensions: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00016"/>
            <a:ext cx="53949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    · Random Forest, XGBoost  ·  UMAP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024128"/>
            <a:ext cx="5440680" cy="54223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2344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Both analyses converge: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</a:rPr>
              <a:t>revenue_million
&amp;
product_traction_users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83280"/>
            <a:ext cx="5029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are the only 2 features that
predict startup outcome
and define cluster 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800600"/>
            <a:ext cx="5029200" cy="15087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4864608"/>
            <a:ext cx="47548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EDA ★
→ Supervised coefficients ★
→ Cluster profiles ★
→ All point to same conclusion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